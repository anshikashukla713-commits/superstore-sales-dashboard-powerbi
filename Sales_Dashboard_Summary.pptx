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($M)</c:v>
                </c:pt>
              </c:strCache>
            </c:strRef>
          </c:tx>
          <c:spPr>
            <a:ln w="381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0.09</c:v>
                </c:pt>
                <c:pt idx="1">
                  <c:v>0.06</c:v>
                </c:pt>
                <c:pt idx="2">
                  <c:v>0.21</c:v>
                </c:pt>
                <c:pt idx="3">
                  <c:v>0.14000000000000001</c:v>
                </c:pt>
                <c:pt idx="4">
                  <c:v>0.15</c:v>
                </c:pt>
                <c:pt idx="5">
                  <c:v>0.15</c:v>
                </c:pt>
                <c:pt idx="6">
                  <c:v>0.16</c:v>
                </c:pt>
                <c:pt idx="7">
                  <c:v>0.2</c:v>
                </c:pt>
                <c:pt idx="8">
                  <c:v>0.31</c:v>
                </c:pt>
                <c:pt idx="9">
                  <c:v>0.2</c:v>
                </c:pt>
                <c:pt idx="10">
                  <c:v>0.35</c:v>
                </c:pt>
                <c:pt idx="11">
                  <c:v>0.33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218-450F-93EF-515AD60503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5E"/>
                </a:solidFill>
                <a:latin typeface="Arial"/>
              </a:rPr>
              <a:t>Sales &amp; Profit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 ($M)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</c:v>
                </c:pt>
                <c:pt idx="1">
                  <c:v>0.74</c:v>
                </c:pt>
                <c:pt idx="2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2E-4090-BFD0-35F8CBA1B6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Profit ($M)</c:v>
                </c:pt>
              </c:strCache>
            </c:strRef>
          </c:tx>
          <c:spPr>
            <a:solidFill>
              <a:srgbClr val="00AC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0.15</c:v>
                </c:pt>
                <c:pt idx="1">
                  <c:v>0.02</c:v>
                </c:pt>
                <c:pt idx="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2E-4090-BFD0-35F8CBA1B6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5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5E"/>
                </a:solidFill>
                <a:latin typeface="Arial"/>
              </a:rPr>
              <a:t>Sum of Sales by Region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 of Sales ($M)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</c:v>
                </c:pt>
                <c:pt idx="1">
                  <c:v>0.68</c:v>
                </c:pt>
                <c:pt idx="2">
                  <c:v>0.5</c:v>
                </c:pt>
                <c:pt idx="3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D3-4163-8AD7-5CCFEFFA60F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B0-48EA-85FC-C0284E8013A4}"/>
              </c:ext>
            </c:extLst>
          </c:dPt>
          <c:dPt>
            <c:idx val="1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B0-48EA-85FC-C0284E8013A4}"/>
              </c:ext>
            </c:extLst>
          </c:dPt>
          <c:dPt>
            <c:idx val="2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B0-48EA-85FC-C0284E8013A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B0-48EA-85FC-C0284E8013A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B0-48EA-85FC-C0284E8013A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B0-48EA-85FC-C0284E8013A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50.56</c:v>
                </c:pt>
                <c:pt idx="1">
                  <c:v>30.74</c:v>
                </c:pt>
                <c:pt idx="2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B0-48EA-85FC-C0284E801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2560320" cy="256032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82880"/>
            <a:ext cx="1463040" cy="1463040"/>
          </a:xfrm>
          <a:prstGeom prst="ellipse">
            <a:avLst/>
          </a:prstGeom>
          <a:solidFill>
            <a:srgbClr val="00ACC1">
              <a:alpha val="40000"/>
            </a:srgbClr>
          </a:solidFill>
          <a:ln w="12700">
            <a:solidFill>
              <a:srgbClr val="00ACC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200400"/>
            <a:ext cx="2286000" cy="2286000"/>
          </a:xfrm>
          <a:prstGeom prst="ellipse">
            <a:avLst/>
          </a:prstGeom>
          <a:solidFill>
            <a:srgbClr val="1E88E5">
              <a:alpha val="25000"/>
            </a:srgbClr>
          </a:solidFill>
          <a:ln w="12700">
            <a:solidFill>
              <a:srgbClr val="1E88E5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kern="0" spc="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1645920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Dataset  |  2024 Business Intelligence Report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92024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06040" y="3291840"/>
            <a:ext cx="192024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$286.4K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3291840"/>
            <a:ext cx="192024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903720" y="3291840"/>
            <a:ext cx="1920240" cy="13716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703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Business Stakeholders  |  FY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Slide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82296" cy="1691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across all regions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60120"/>
            <a:ext cx="82296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69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13441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$286.4K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8348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after costs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82296" cy="16916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processed in the period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92608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926080"/>
            <a:ext cx="82296" cy="1691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33101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98348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as % of sales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99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Technology leads sales at $836K with 15.66% discount rate, while Office Supplies drives volume with 22,906 units sold.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A4AE"/>
                </a:solidFill>
              </a:rPr>
              <a:t>Slide 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68680"/>
          <a:ext cx="5669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960120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960120"/>
            <a:ext cx="64008" cy="7132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0149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12161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1453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 – highest month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1801368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801368"/>
            <a:ext cx="64008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1856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Month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2057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0" y="22951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 – seasonal dip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263640" y="2642616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2642616"/>
            <a:ext cx="64008" cy="7132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0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~$191K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1363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mid-year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263640" y="3483864"/>
            <a:ext cx="2606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483864"/>
            <a:ext cx="64008" cy="7132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3538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0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0" y="39776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surge observed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4599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Q4 (Oct–Dec) accounts for ~42% of total annual sales. Strong seasonality indicates promotional opportunities in early quarters.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BY CATEGORY  |  REGIONAL BREAKDOWN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2EBF2"/>
                </a:solidFill>
              </a:rPr>
              <a:t>Slide 4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41248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846320" y="841248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187952"/>
            <a:ext cx="8412480" cy="411480"/>
          </a:xfrm>
          <a:prstGeom prst="rect">
            <a:avLst/>
          </a:prstGeom>
          <a:solidFill>
            <a:srgbClr val="E0F7FA"/>
          </a:solidFill>
          <a:ln w="12700">
            <a:solidFill>
              <a:srgbClr val="80DE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2153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Technology generates highest revenue ($840K) but Furniture has the lowest profit margin ($20K). West region leads with $730K in sales.</a:t>
            </a:r>
            <a:endParaRPr lang="en-US" sz="10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365760" y="4663440"/>
          <a:ext cx="8412480" cy="365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E93D8"/>
                </a:solidFill>
              </a:rPr>
              <a:t>Slide 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Discount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88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$7,41,999.80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$18,451.27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88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$7,19,047.03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$1,22,490.80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22,906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88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$8,36,154.03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$1,45,454.95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$22,97,200.86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$2,86,397.02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37,873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365760" y="37033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703320"/>
            <a:ext cx="2560320" cy="6400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039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Discount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986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4315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00400" y="37033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3703320"/>
            <a:ext cx="256032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38039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Discount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91840" y="3986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60.71%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291840" y="4315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035040" y="37033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703320"/>
            <a:ext cx="256032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8039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Profit/Sales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126480" y="39867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17.38%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26480" y="4315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Office Supplies has a 60.71% discount rate which significantly erodes margins. Pricing strategy review recommended.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2011680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1115568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502920" cy="11155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Q1 &amp; Q2 Sales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4356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Jan–May shows low sales. Launch early-year promotions and discount campaigns to smooth revenue distribution.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1051560"/>
            <a:ext cx="4114800" cy="1115568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051560"/>
            <a:ext cx="502920" cy="11155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71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Furniture Profitability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4356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earns only $18K profit on $742K sales (2.5% margin). Audit costs and renegotiate supplier pricing.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14800" cy="1115568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31720"/>
            <a:ext cx="502920" cy="111556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Office Supplies Disc.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7157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60.71% discount on Office Supplies is unsustainable. Target a maximum of 30% to improve margin by ~$40K.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4114800" cy="1115568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331720"/>
            <a:ext cx="502920" cy="11155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2423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West &amp; East Regions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7157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($730K) and East ($680K) already lead — double down with targeted campaigns to widen the margin.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4114800" cy="1115568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611880"/>
            <a:ext cx="502920" cy="11155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931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Q4 Momentum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9959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Nov–Dec drive 42% of annual sales. Pre-stock inventory and plan marketing campaigns 8 weeks ahead.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611880"/>
            <a:ext cx="4114800" cy="1115568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611880"/>
            <a:ext cx="502920" cy="111556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931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Consumer Segment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399592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is 50.56% of revenue. Create loyalty programs and personalized marketing for retention.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1920240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841248"/>
            <a:ext cx="1920240" cy="10058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1460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1920240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Quarter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841248"/>
            <a:ext cx="19202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886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1228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029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6484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20299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PRINCIPLES APPLIED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4144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KPI Cards for executive summary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76148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Slicers: Region, Category, Segment, Date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06324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8152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Time-series line chart for trend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40156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Clustered bar charts for comparison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2160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Donut chart for segment share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84124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4164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Consistent blue corporate color theme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361688"/>
            <a:ext cx="8366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Interactive filters for stakeholder drill-down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Summary  |  Business Intelligence Report  |  FY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532</Words>
  <Application>Microsoft Office PowerPoint</Application>
  <PresentationFormat>On-screen Show (16:9)</PresentationFormat>
  <Paragraphs>128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Summary</dc:title>
  <dc:subject>PptxGenJS Presentation</dc:subject>
  <dc:creator>Business Analytics</dc:creator>
  <cp:lastModifiedBy>anshika shukla</cp:lastModifiedBy>
  <cp:revision>2</cp:revision>
  <dcterms:created xsi:type="dcterms:W3CDTF">2026-06-04T16:09:17Z</dcterms:created>
  <dcterms:modified xsi:type="dcterms:W3CDTF">2026-06-04T16:14:10Z</dcterms:modified>
</cp:coreProperties>
</file>